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953e61e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b953e61e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b953e61e3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b953e61e3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b953e61e3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b953e61e3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b953e61e3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b953e61e3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b953e61e3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b953e61e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b953e61e3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b953e61e3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b953e61e3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b953e61e3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b953e61e3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eb953e61e3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b953e61e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b953e61e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b953e61e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b953e61e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b953e61e3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b953e61e3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07925" y="1567500"/>
            <a:ext cx="5768700" cy="17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rgbClr val="4A86E8"/>
                </a:solidFill>
              </a:rPr>
              <a:t>Mutual Fund Analytics Capstone Project </a:t>
            </a:r>
            <a:endParaRPr b="1" i="1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556"/>
              <a:t>  Bluestock Fintech Internship Program</a:t>
            </a:r>
            <a:r>
              <a:rPr b="1" i="1" lang="en-GB">
                <a:solidFill>
                  <a:srgbClr val="4A86E8"/>
                </a:solidFill>
              </a:rPr>
              <a:t> </a:t>
            </a:r>
            <a:endParaRPr b="1" i="1">
              <a:solidFill>
                <a:srgbClr val="4A86E8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6961625" y="3799450"/>
            <a:ext cx="1941000" cy="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4900"/>
              <a:t>                                                       Prepared By: Yash Ridla                                                                                  June 2026</a:t>
            </a:r>
            <a:endParaRPr sz="4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3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2109900" y="437250"/>
            <a:ext cx="54141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Problem Statement &amp; Objectives </a:t>
            </a:r>
            <a:endParaRPr b="1" i="1"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157000"/>
            <a:ext cx="7038900" cy="3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The mutual fund industry generates large volumes of financial and investor-related data. Analyzing fund performance, risk metrics, investor behavior, and market trends manually is difficult and time-consuming. A data-driven analytical solution is required to transform raw data into meaningful insights for investors and financial analysts.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Collect and integrate mutual fund datasets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Perform ETL (Extract, Transform, Load) operations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Conduct Exploratory Data Analysis (EDA)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Calculate advanced performance and risk metrics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Develop interactive Power BI dashboards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Generate actionable insights for investment analysis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4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3381600" y="501100"/>
            <a:ext cx="23808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Data Sources </a:t>
            </a:r>
            <a:endParaRPr b="1" i="1"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069325" y="1112200"/>
            <a:ext cx="1977900" cy="3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20"/>
              <a:t>Raw Data Sources </a:t>
            </a:r>
            <a:endParaRPr b="1" sz="16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Fund Master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NAV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AUM by Fund House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Monthly SIP Inflows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Category Inflows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Industry Folio 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Scheme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Investor Transactions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Portfolio Holdings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Benchmark Indices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6438900" y="1112200"/>
            <a:ext cx="1977900" cy="3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Key Processed Datasets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clean_performance.csv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clean_nav.csv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clean_transactions.csv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fund_scorecard.csv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cagr_report.csv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sharpe_values.csv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sortino_values.csv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/>
              <a:t>var_cvar_report.csv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5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2884250" y="2208750"/>
            <a:ext cx="702000" cy="65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451650" y="2208750"/>
            <a:ext cx="702000" cy="65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3586250" y="207325"/>
            <a:ext cx="21921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Architecture</a:t>
            </a:r>
            <a:endParaRPr b="1" i="1"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153725" y="925600"/>
            <a:ext cx="75123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5300"/>
              <a:t>Raw CSV Datasets</a:t>
            </a:r>
            <a:r>
              <a:rPr b="1" i="1" lang="en-GB" sz="5300"/>
              <a:t> </a:t>
            </a:r>
            <a:r>
              <a:rPr lang="en-GB" sz="5300"/>
              <a:t>                          </a:t>
            </a:r>
            <a:r>
              <a:rPr b="1" i="1" lang="en-GB" sz="5300"/>
              <a:t>        Data Ingestion (Python)  </a:t>
            </a:r>
            <a:r>
              <a:rPr lang="en-GB" sz="5300"/>
              <a:t>                              </a:t>
            </a:r>
            <a:r>
              <a:rPr b="1" i="1" lang="en-GB" sz="5300"/>
              <a:t>    ETL Process</a:t>
            </a:r>
            <a:endParaRPr b="1" i="1"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300"/>
              <a:t>       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5300"/>
              <a:t>  Analytical Datasets </a:t>
            </a:r>
            <a:r>
              <a:rPr lang="en-GB" sz="5300"/>
              <a:t>      </a:t>
            </a:r>
            <a:r>
              <a:rPr lang="en-GB" sz="5300"/>
              <a:t>                          </a:t>
            </a:r>
            <a:r>
              <a:rPr b="1" i="1" lang="en-GB" sz="5300"/>
              <a:t>Feature Engineering   </a:t>
            </a:r>
            <a:r>
              <a:rPr lang="en-GB" sz="5300"/>
              <a:t>  </a:t>
            </a:r>
            <a:r>
              <a:rPr lang="en-GB" sz="5300"/>
              <a:t>                         </a:t>
            </a:r>
            <a:r>
              <a:rPr lang="en-GB" sz="5300"/>
              <a:t>      </a:t>
            </a:r>
            <a:r>
              <a:rPr b="1" i="1" lang="en-GB" sz="5300"/>
              <a:t>(Cleaning + Transformation)</a:t>
            </a:r>
            <a:endParaRPr b="1" i="1"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5300"/>
              <a:t>  </a:t>
            </a:r>
            <a:r>
              <a:rPr b="1" i="1" lang="en-GB" sz="5300"/>
              <a:t>(14 Processed Files)</a:t>
            </a:r>
            <a:endParaRPr b="1" i="1"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300"/>
              <a:t>    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5300"/>
              <a:t>Advanced Analytics  </a:t>
            </a:r>
            <a:r>
              <a:rPr lang="en-GB" sz="5300"/>
              <a:t>                                 </a:t>
            </a:r>
            <a:r>
              <a:rPr b="1" i="1" lang="en-GB" sz="5300"/>
              <a:t>Power BI Dashboard </a:t>
            </a:r>
            <a:r>
              <a:rPr lang="en-GB" sz="5300"/>
              <a:t>                                   </a:t>
            </a:r>
            <a:r>
              <a:rPr b="1" i="1" lang="en-GB" sz="5300"/>
              <a:t>Business Insights </a:t>
            </a:r>
            <a:endParaRPr b="1" i="1"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5300"/>
              <a:t>(CAGR, Sharpe, Sortino, </a:t>
            </a:r>
            <a:endParaRPr b="1" i="1"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5300"/>
              <a:t>VaR, CVaR, Drawdown)</a:t>
            </a:r>
            <a:r>
              <a:rPr lang="en-GB" sz="5300"/>
              <a:t> 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300"/>
              <a:t>      </a:t>
            </a:r>
            <a:endParaRPr sz="5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2765900" y="1090100"/>
            <a:ext cx="581400" cy="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572300" y="1090100"/>
            <a:ext cx="702000" cy="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899475" y="2751550"/>
            <a:ext cx="65700" cy="50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789600" y="1330250"/>
            <a:ext cx="65700" cy="50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884250" y="3523600"/>
            <a:ext cx="581400" cy="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511950" y="3523600"/>
            <a:ext cx="581400" cy="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2106600" y="393750"/>
            <a:ext cx="5420700" cy="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Exploratory Data Analysis (EDA) </a:t>
            </a:r>
            <a:endParaRPr b="1" i="1"/>
          </a:p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1297500" y="998250"/>
            <a:ext cx="7038900" cy="40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29380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208">
                <a:latin typeface="Arial"/>
                <a:ea typeface="Arial"/>
                <a:cs typeface="Arial"/>
                <a:sym typeface="Arial"/>
              </a:rPr>
              <a:t>10 raw datasets collected from multiple mutual fund data sources.</a:t>
            </a:r>
            <a:endParaRPr sz="1208">
              <a:latin typeface="Arial"/>
              <a:ea typeface="Arial"/>
              <a:cs typeface="Arial"/>
              <a:sym typeface="Arial"/>
            </a:endParaRPr>
          </a:p>
          <a:p>
            <a:pPr indent="-29380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208">
                <a:latin typeface="Arial"/>
                <a:ea typeface="Arial"/>
                <a:cs typeface="Arial"/>
                <a:sym typeface="Arial"/>
              </a:rPr>
              <a:t>Data includes NAV history, AUM, SIP inflows, scheme performance, transactions, and benchmark indices.</a:t>
            </a:r>
            <a:endParaRPr sz="1208">
              <a:latin typeface="Arial"/>
              <a:ea typeface="Arial"/>
              <a:cs typeface="Arial"/>
              <a:sym typeface="Arial"/>
            </a:endParaRPr>
          </a:p>
          <a:p>
            <a:pPr indent="-29380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208">
                <a:latin typeface="Arial"/>
                <a:ea typeface="Arial"/>
                <a:cs typeface="Arial"/>
                <a:sym typeface="Arial"/>
              </a:rPr>
              <a:t>ETL pipeline generated 14 analytical datasets for reporting and analysis.</a:t>
            </a:r>
            <a:endParaRPr sz="120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53">
                <a:latin typeface="Arial"/>
                <a:ea typeface="Arial"/>
                <a:cs typeface="Arial"/>
                <a:sym typeface="Arial"/>
              </a:rPr>
              <a:t>Data Quality Improvements</a:t>
            </a:r>
            <a:endParaRPr b="1" sz="1653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Missing values handled.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Duplicate records removed.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Column formats standardized.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Data validated using AMFI codes and scheme identifiers.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53">
                <a:latin typeface="Arial"/>
                <a:ea typeface="Arial"/>
                <a:cs typeface="Arial"/>
                <a:sym typeface="Arial"/>
              </a:rPr>
              <a:t>Key Statistics</a:t>
            </a:r>
            <a:endParaRPr b="1" sz="1653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Analysis covered multiple fund houses and schemes.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Historical NAV and return data used for performance evaluation.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335">
                <a:latin typeface="Arial"/>
                <a:ea typeface="Arial"/>
                <a:cs typeface="Arial"/>
                <a:sym typeface="Arial"/>
              </a:rPr>
              <a:t>Investor transaction and SIP datasets used for behavioral analysis.</a:t>
            </a:r>
            <a:endParaRPr sz="13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7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3286050" y="448350"/>
            <a:ext cx="3061800" cy="5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EDA Key Findings </a:t>
            </a:r>
            <a:endParaRPr b="1" i="1"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1297500" y="1030950"/>
            <a:ext cx="7038900" cy="3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Major Findings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Higher-return funds generally exhibited higher risk (Std. Deviation).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Large AUM funds were concentrated among a few leading fund houses.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Equity-oriented schemes delivered stronger long-term returns.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SIP inflows showed consistent growth across most periods.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Significant variation was observed in Sharpe Ratio and Risk Metrics among schemes.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Analytical Insights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Strong relationship observed between return and risk.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Fund performance differed across categories and fund houses.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Investor activity trends supported long-term SIP investment behavior.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3045750" y="219025"/>
            <a:ext cx="35424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Performance Metrics</a:t>
            </a:r>
            <a:r>
              <a:rPr lang="en-GB"/>
              <a:t> </a:t>
            </a:r>
            <a:endParaRPr/>
          </a:p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1297500" y="692350"/>
            <a:ext cx="7038900" cy="44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Fund Growth Metrics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CAGR (Compound Annual Growth Rate)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1-Year Return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3-Year Return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5-Year Return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Risk-Adjusted Performance Metrics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29852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21">
                <a:latin typeface="Arial"/>
                <a:ea typeface="Arial"/>
                <a:cs typeface="Arial"/>
                <a:sym typeface="Arial"/>
              </a:rPr>
              <a:t>Alpha</a:t>
            </a:r>
            <a:endParaRPr sz="1421">
              <a:latin typeface="Arial"/>
              <a:ea typeface="Arial"/>
              <a:cs typeface="Arial"/>
              <a:sym typeface="Arial"/>
            </a:endParaRPr>
          </a:p>
          <a:p>
            <a:pPr indent="-29852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21">
                <a:latin typeface="Arial"/>
                <a:ea typeface="Arial"/>
                <a:cs typeface="Arial"/>
                <a:sym typeface="Arial"/>
              </a:rPr>
              <a:t>Beta</a:t>
            </a:r>
            <a:endParaRPr sz="1421">
              <a:latin typeface="Arial"/>
              <a:ea typeface="Arial"/>
              <a:cs typeface="Arial"/>
              <a:sym typeface="Arial"/>
            </a:endParaRPr>
          </a:p>
          <a:p>
            <a:pPr indent="-29852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21">
                <a:latin typeface="Arial"/>
                <a:ea typeface="Arial"/>
                <a:cs typeface="Arial"/>
                <a:sym typeface="Arial"/>
              </a:rPr>
              <a:t>Sharpe Ratio</a:t>
            </a:r>
            <a:endParaRPr sz="1421">
              <a:latin typeface="Arial"/>
              <a:ea typeface="Arial"/>
              <a:cs typeface="Arial"/>
              <a:sym typeface="Arial"/>
            </a:endParaRPr>
          </a:p>
          <a:p>
            <a:pPr indent="-29852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421">
                <a:latin typeface="Arial"/>
                <a:ea typeface="Arial"/>
                <a:cs typeface="Arial"/>
                <a:sym typeface="Arial"/>
              </a:rPr>
              <a:t>Sortino Ratio</a:t>
            </a:r>
            <a:endParaRPr sz="142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latin typeface="Arial"/>
                <a:ea typeface="Arial"/>
                <a:cs typeface="Arial"/>
                <a:sym typeface="Arial"/>
              </a:rPr>
              <a:t>Key Insights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0487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550">
                <a:latin typeface="Arial"/>
                <a:ea typeface="Arial"/>
                <a:cs typeface="Arial"/>
                <a:sym typeface="Arial"/>
              </a:rPr>
              <a:t>CAGR was used to measure long-term growth consistency.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30487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550">
                <a:latin typeface="Arial"/>
                <a:ea typeface="Arial"/>
                <a:cs typeface="Arial"/>
                <a:sym typeface="Arial"/>
              </a:rPr>
              <a:t>Alpha and Beta evaluated benchmark outperformance and market sensitivity.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30487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550">
                <a:latin typeface="Arial"/>
                <a:ea typeface="Arial"/>
                <a:cs typeface="Arial"/>
                <a:sym typeface="Arial"/>
              </a:rPr>
              <a:t>Sharpe and Sortino ratios measured risk-adjusted returns.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-30487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en-GB" sz="1550">
                <a:latin typeface="Arial"/>
                <a:ea typeface="Arial"/>
                <a:cs typeface="Arial"/>
                <a:sym typeface="Arial"/>
              </a:rPr>
              <a:t>These metrics helped identify high-performing and consistent mutual fund schemes.</a:t>
            </a:r>
            <a:endParaRPr sz="1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19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1377900" y="459550"/>
            <a:ext cx="7038900" cy="5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Performance Metrics (Advanced Risk Analysis)</a:t>
            </a:r>
            <a:r>
              <a:rPr lang="en-GB"/>
              <a:t> </a:t>
            </a:r>
            <a:endParaRPr/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1308475" y="1090025"/>
            <a:ext cx="7038900" cy="3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Risk Metrics Evaluated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Standard Deviation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Maximum Drawdown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Tracking Error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Value at Risk (VaR)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Conditional Value at Risk (CVaR)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Key Insights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Standard Deviation measured fund volatility.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Maximum Drawdown identified the largest historical decline.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Tracking Error evaluated deviation from benchmark performance.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VaR and CVaR estimated potential downside losses under adverse market conditions.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These metrics supported comprehensive risk assessment and portfolio evaluation.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0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3792150" y="0"/>
            <a:ext cx="20496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Dashboard</a:t>
            </a:r>
            <a:endParaRPr b="1" i="1"/>
          </a:p>
        </p:txBody>
      </p:sp>
      <p:pic>
        <p:nvPicPr>
          <p:cNvPr id="199" name="Google Shape;199;p21" title="Fund Perform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50" y="2784400"/>
            <a:ext cx="7842801" cy="2359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21" title="Industry Over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050" y="465300"/>
            <a:ext cx="7842799" cy="2163374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21" title="unnamed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1125" y="127925"/>
            <a:ext cx="337375" cy="3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title="SIP &amp; MarketTren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25" y="2662200"/>
            <a:ext cx="8050276" cy="242959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p22" title="Investor Analy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125" y="142150"/>
            <a:ext cx="8050275" cy="242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22" title="unnamed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1125" y="127925"/>
            <a:ext cx="337375" cy="3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3661650" y="354975"/>
            <a:ext cx="2310600" cy="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/>
              <a:t>Key Findings </a:t>
            </a:r>
            <a:endParaRPr b="1" i="1"/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1010600" y="922575"/>
            <a:ext cx="7573200" cy="37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Equity-oriented mutual fund schemes demonstrated stronger long-term return potential.</a:t>
            </a:r>
            <a:endParaRPr sz="4915"/>
          </a:p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SIP inflows showed consistent growth across multiple periods, indicating sustained investor participation.</a:t>
            </a:r>
            <a:endParaRPr sz="4915"/>
          </a:p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Risk-adjusted performance metrics revealed significant differences among mutual fund schemes.</a:t>
            </a:r>
            <a:endParaRPr sz="4915"/>
          </a:p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Large Assets Under Management (AUM) were concentrated within a few leading fund houses.</a:t>
            </a:r>
            <a:endParaRPr sz="4915"/>
          </a:p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A positive relationship was observed between return potential and risk exposure.</a:t>
            </a:r>
            <a:endParaRPr sz="4915"/>
          </a:p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Advanced risk measures such as VaR, CVaR, and Maximum Drawdown provided deeper insights into downside risk.</a:t>
            </a:r>
            <a:endParaRPr sz="4915"/>
          </a:p>
          <a:p>
            <a:pPr indent="-30663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4915"/>
              <a:t>Data-driven analysis enabled effective comparison of schemes based on performance and risk characteristics.</a:t>
            </a:r>
            <a:endParaRPr sz="4915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9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5700"/>
              <a:t>Overall, the project successfully transformed raw mutual fund data into meaningful         analytical insights for investment evaluation and decision-making. </a:t>
            </a:r>
            <a:endParaRPr b="1" sz="5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3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617075" y="19974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4800"/>
              <a:t>THANK YOU</a:t>
            </a:r>
            <a:endParaRPr b="1" i="1" sz="4800"/>
          </a:p>
        </p:txBody>
      </p:sp>
      <p:pic>
        <p:nvPicPr>
          <p:cNvPr id="221" name="Google Shape;221;p24" title="unnam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800" y="127925"/>
            <a:ext cx="611700" cy="6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